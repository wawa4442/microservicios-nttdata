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" y="1968402"/>
            <a:ext cx="12191999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8000" b="1" i="0" u="none" dirty="0">
                <a:solidFill>
                  <a:schemeClr val="bg1"/>
                </a:solidFill>
                <a:latin typeface="Montserrat"/>
              </a:rPr>
              <a:t>Guía de </a:t>
            </a:r>
            <a:r>
              <a:rPr sz="8000" b="1" i="0" u="none" dirty="0" err="1">
                <a:solidFill>
                  <a:schemeClr val="bg1"/>
                </a:solidFill>
                <a:latin typeface="Montserrat"/>
              </a:rPr>
              <a:t>Compilación</a:t>
            </a:r>
            <a:endParaRPr sz="8000" b="1" i="0" u="none" dirty="0">
              <a:solidFill>
                <a:schemeClr val="bg1"/>
              </a:solidFill>
              <a:latin typeface="Montserra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471737" y="3429892"/>
            <a:ext cx="7248525" cy="8720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  <a:defRPr/>
            </a:pPr>
            <a:r>
              <a:rPr sz="3200" b="0" i="0" u="none" dirty="0" err="1">
                <a:solidFill>
                  <a:srgbClr val="E2E8F0"/>
                </a:solidFill>
                <a:latin typeface="Inter"/>
              </a:rPr>
              <a:t>Documentación</a:t>
            </a:r>
            <a:r>
              <a:rPr sz="3200" b="0" i="0" u="none" dirty="0">
                <a:solidFill>
                  <a:srgbClr val="E2E8F0"/>
                </a:solidFill>
                <a:latin typeface="Inter"/>
              </a:rPr>
              <a:t> </a:t>
            </a:r>
            <a:r>
              <a:rPr sz="3200" b="0" i="0" u="none" dirty="0" err="1">
                <a:solidFill>
                  <a:srgbClr val="E2E8F0"/>
                </a:solidFill>
                <a:latin typeface="Inter"/>
              </a:rPr>
              <a:t>técnica</a:t>
            </a:r>
            <a:r>
              <a:rPr sz="3200" b="0" i="0" u="none" dirty="0">
                <a:solidFill>
                  <a:srgbClr val="E2E8F0"/>
                </a:solidFill>
                <a:latin typeface="Inter"/>
              </a:rPr>
              <a:t> para el </a:t>
            </a:r>
            <a:r>
              <a:rPr sz="3200" b="0" i="0" u="none" dirty="0" err="1">
                <a:solidFill>
                  <a:srgbClr val="E2E8F0"/>
                </a:solidFill>
                <a:latin typeface="Inter"/>
              </a:rPr>
              <a:t>proyecto</a:t>
            </a:r>
            <a:r>
              <a:rPr sz="3200" b="0" i="0" u="none" dirty="0">
                <a:solidFill>
                  <a:srgbClr val="E2E8F0"/>
                </a:solidFill>
                <a:latin typeface="Inter"/>
              </a:rPr>
              <a:t> Taco Cloud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4368F9-8910-1CDA-451D-DC896D51306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t="8689" b="12640"/>
          <a:stretch>
            <a:fillRect/>
          </a:stretch>
        </p:blipFill>
        <p:spPr>
          <a:xfrm>
            <a:off x="-1" y="5314948"/>
            <a:ext cx="2743200" cy="154305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C4C2DCF-35F0-140E-3CC3-EAE2183C471F}"/>
              </a:ext>
            </a:extLst>
          </p:cNvPr>
          <p:cNvSpPr txBox="1"/>
          <p:nvPr/>
        </p:nvSpPr>
        <p:spPr>
          <a:xfrm>
            <a:off x="9526384" y="6421983"/>
            <a:ext cx="2665616" cy="4360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  <a:defRPr/>
            </a:pPr>
            <a:r>
              <a:rPr lang="en-US" sz="3200" b="0" i="0" u="none" dirty="0">
                <a:solidFill>
                  <a:srgbClr val="E2E8F0"/>
                </a:solidFill>
                <a:latin typeface="Inter"/>
              </a:rPr>
              <a:t>Angel Lopez</a:t>
            </a:r>
            <a:endParaRPr sz="3200" b="0" i="0" u="none" dirty="0">
              <a:solidFill>
                <a:srgbClr val="E2E8F0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533650"/>
            <a:ext cx="3400425" cy="38290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925" y="2533650"/>
            <a:ext cx="3486150" cy="3829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075" y="2533650"/>
            <a:ext cx="3400425" cy="38290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09750" y="1543050"/>
            <a:ext cx="85725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Inter"/>
              </a:rPr>
              <a:t>Antes de compilar, es indispensable configurar las variables del sistema para garantizar la compatibilidad. No se requiere modificar el código fuente si se siguen estos pasos.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6654" y="3810000"/>
            <a:ext cx="930116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50" b="0" i="0" u="none">
                <a:solidFill>
                  <a:srgbClr val="1E3A8A"/>
                </a:solidFill>
                <a:latin typeface="Montserrat SemiBold"/>
              </a:rPr>
              <a:t>JDK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4305300"/>
            <a:ext cx="2809875" cy="1512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 dirty="0">
                <a:solidFill>
                  <a:srgbClr val="475569"/>
                </a:solidFill>
                <a:latin typeface="Inter"/>
              </a:rPr>
              <a:t>La variable JAVA_HOME es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obligatoria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y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debe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apuntar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al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directorio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de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instalación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. </a:t>
            </a:r>
            <a:endParaRPr lang="en-US" sz="1500" b="0" i="0" u="none" dirty="0">
              <a:solidFill>
                <a:srgbClr val="475569"/>
              </a:solidFill>
              <a:latin typeface="Inter"/>
            </a:endParaRPr>
          </a:p>
          <a:p>
            <a:pPr algn="ctr">
              <a:lnSpc>
                <a:spcPts val="2400"/>
              </a:lnSpc>
            </a:pPr>
            <a:endParaRPr lang="en-US" sz="1500" b="0" i="0" u="none" dirty="0">
              <a:solidFill>
                <a:srgbClr val="475569"/>
              </a:solidFill>
              <a:latin typeface="Inter"/>
            </a:endParaRPr>
          </a:p>
          <a:p>
            <a:pPr algn="ctr">
              <a:lnSpc>
                <a:spcPts val="2400"/>
              </a:lnSpc>
            </a:pP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Ej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: C:\...\jdk-11.0.33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30891" y="3810000"/>
            <a:ext cx="1730216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50" b="0" i="0" u="none">
                <a:solidFill>
                  <a:srgbClr val="1E3A8A"/>
                </a:solidFill>
                <a:latin typeface="Montserrat SemiBold"/>
              </a:rPr>
              <a:t>Maven 3.9+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8200" y="4305300"/>
            <a:ext cx="2895600" cy="1512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 dirty="0">
                <a:solidFill>
                  <a:srgbClr val="475569"/>
                </a:solidFill>
                <a:latin typeface="Inter"/>
              </a:rPr>
              <a:t>La variable MAVEN_HOME es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obligatoria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y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debe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apuntar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a la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ruta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de Maven. </a:t>
            </a:r>
            <a:endParaRPr lang="en-US" sz="1500" b="0" i="0" u="none" dirty="0">
              <a:solidFill>
                <a:srgbClr val="475569"/>
              </a:solidFill>
              <a:latin typeface="Inter"/>
            </a:endParaRPr>
          </a:p>
          <a:p>
            <a:pPr algn="ctr">
              <a:lnSpc>
                <a:spcPts val="2400"/>
              </a:lnSpc>
            </a:pPr>
            <a:endParaRPr lang="en-US" sz="1500" dirty="0">
              <a:solidFill>
                <a:srgbClr val="475569"/>
              </a:solidFill>
              <a:latin typeface="Inter"/>
            </a:endParaRPr>
          </a:p>
          <a:p>
            <a:pPr algn="ctr">
              <a:lnSpc>
                <a:spcPts val="2400"/>
              </a:lnSpc>
            </a:pP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Ej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: C:\...\apache-maven-3.9.16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00135" y="3810000"/>
            <a:ext cx="2440305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50" b="0" i="0" u="none">
                <a:solidFill>
                  <a:srgbClr val="1E3A8A"/>
                </a:solidFill>
                <a:latin typeface="Montserrat SemiBold"/>
              </a:rPr>
              <a:t>Google Chrome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15350" y="4305300"/>
            <a:ext cx="2809875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Inter"/>
              </a:rPr>
              <a:t>Se requiere tener instalado el navegador web para la correcta ejecución automatizada de las pruebas del sistema (Tests).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1687" y="2971800"/>
            <a:ext cx="400050" cy="533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5962" y="2971800"/>
            <a:ext cx="600075" cy="533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3587" y="2971800"/>
            <a:ext cx="533400" cy="533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4953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1E3A8A"/>
                </a:solidFill>
                <a:latin typeface="Montserrat"/>
              </a:rPr>
              <a:t>Requisitos Previos y Variables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133475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71500" y="2047875"/>
            <a:ext cx="423862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475569"/>
                </a:solidFill>
                <a:latin typeface="Inter"/>
              </a:rPr>
              <a:t>Al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intentar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compilar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utilizando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el wrapper con ./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mvnw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clean package, la terminal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puede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arrojar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un error de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clase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principal no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encontrada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debido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a la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falta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del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archivo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MavenWrapperMain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409950"/>
            <a:ext cx="52387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Inter"/>
              </a:rPr>
              <a:t>Solución Profesional: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857625"/>
            <a:ext cx="376452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475569"/>
                </a:solidFill>
                <a:latin typeface="Inter"/>
              </a:rPr>
              <a:t>Se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debe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prescindir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del wrapper.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Instale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Maven de forma local, configure la variable MAVEN_HOME, y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ejecute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el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comando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nativo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: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1325" y="3150096"/>
            <a:ext cx="44196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1E3A8A"/>
                </a:solidFill>
                <a:latin typeface="Montserrat"/>
              </a:rPr>
              <a:t>Resolución: Error de Maven Wrapper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8451AFC-5845-6795-8D6B-D175D7D034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1393"/>
          <a:stretch>
            <a:fillRect/>
          </a:stretch>
        </p:blipFill>
        <p:spPr>
          <a:xfrm>
            <a:off x="5446661" y="1924608"/>
            <a:ext cx="6400800" cy="386603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E20076A-7D49-EBA5-75BC-81A989720CA2}"/>
              </a:ext>
            </a:extLst>
          </p:cNvPr>
          <p:cNvSpPr txBox="1"/>
          <p:nvPr/>
        </p:nvSpPr>
        <p:spPr>
          <a:xfrm>
            <a:off x="6372225" y="1257349"/>
            <a:ext cx="540031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MX" sz="2000" b="1" dirty="0">
                <a:solidFill>
                  <a:schemeClr val="bg1">
                    <a:lumMod val="50000"/>
                  </a:schemeClr>
                </a:solidFill>
              </a:rPr>
              <a:t>Archivo: </a:t>
            </a:r>
          </a:p>
          <a:p>
            <a:pPr marL="0" indent="0" algn="ctr">
              <a:buNone/>
            </a:pPr>
            <a:r>
              <a:rPr lang="es-MX" b="1" dirty="0">
                <a:solidFill>
                  <a:schemeClr val="bg1">
                    <a:lumMod val="50000"/>
                  </a:schemeClr>
                </a:solidFill>
              </a:rPr>
              <a:t>Taco-Cloud-Practice\README.md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71500" y="2047875"/>
            <a:ext cx="444295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475569"/>
                </a:solidFill>
                <a:latin typeface="Inter"/>
              </a:rPr>
              <a:t>Es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posible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observar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un error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crítico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(</a:t>
            </a:r>
            <a:r>
              <a:rPr sz="1500" b="0" i="1" u="none" dirty="0">
                <a:solidFill>
                  <a:srgbClr val="475569"/>
                </a:solidFill>
                <a:latin typeface="Inter"/>
              </a:rPr>
              <a:t>Fatal error compiling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)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dentro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del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módulo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tacocloud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-domain-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mongodb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105150"/>
            <a:ext cx="52387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Inter"/>
              </a:rPr>
              <a:t>Causa y Solución: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552825"/>
            <a:ext cx="4442952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Inter"/>
              </a:rPr>
              <a:t>Esto ocurre por una incompatibilidad entre la librería Lombok y versiones recientes de Java (ej. JDK 21). El manual técnico establece que el proyecto está diseñado estrictamente para </a:t>
            </a:r>
            <a:r>
              <a:rPr sz="1500" b="1" i="0" u="none">
                <a:solidFill>
                  <a:srgbClr val="475569"/>
                </a:solidFill>
                <a:latin typeface="Inter"/>
              </a:rPr>
              <a:t>JDK 11</a:t>
            </a:r>
            <a:r>
              <a:rPr sz="1500" b="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914900"/>
            <a:ext cx="4442952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Descargue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dicha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versión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y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asegúrese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de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que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JAVA_HOME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apunte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a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este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directorio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específico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1E3A8A"/>
                </a:solidFill>
                <a:latin typeface="Montserrat"/>
              </a:rPr>
              <a:t>Resolución: Incompatibilidad de JDK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7E0A7E6-8540-0412-3463-24E8AC8CAC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781"/>
          <a:stretch>
            <a:fillRect/>
          </a:stretch>
        </p:blipFill>
        <p:spPr>
          <a:xfrm>
            <a:off x="5219700" y="2047875"/>
            <a:ext cx="6400800" cy="359978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E2C3BC4-F0A0-2750-CA9E-EF8BB54A7FF4}"/>
              </a:ext>
            </a:extLst>
          </p:cNvPr>
          <p:cNvSpPr txBox="1"/>
          <p:nvPr/>
        </p:nvSpPr>
        <p:spPr>
          <a:xfrm>
            <a:off x="5719942" y="1536825"/>
            <a:ext cx="54003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MX" sz="2000" b="1" dirty="0">
                <a:solidFill>
                  <a:schemeClr val="bg1">
                    <a:lumMod val="50000"/>
                  </a:schemeClr>
                </a:solidFill>
              </a:rPr>
              <a:t>Terminal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1470690"/>
            <a:ext cx="5500687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0" i="0" u="none" dirty="0" err="1">
                <a:solidFill>
                  <a:srgbClr val="1E293B"/>
                </a:solidFill>
                <a:latin typeface="Montserrat SemiBold"/>
              </a:rPr>
              <a:t>Conexión</a:t>
            </a:r>
            <a:r>
              <a:rPr sz="2250" b="0" i="0" u="none" dirty="0">
                <a:solidFill>
                  <a:srgbClr val="1E293B"/>
                </a:solidFill>
                <a:latin typeface="Montserrat SemiBold"/>
              </a:rPr>
              <a:t> </a:t>
            </a:r>
            <a:r>
              <a:rPr sz="2250" b="0" i="0" u="none" dirty="0" err="1">
                <a:solidFill>
                  <a:srgbClr val="1E293B"/>
                </a:solidFill>
                <a:latin typeface="Montserrat SemiBold"/>
              </a:rPr>
              <a:t>Rechazada</a:t>
            </a:r>
            <a:r>
              <a:rPr sz="2250" b="0" i="0" u="none" dirty="0">
                <a:solidFill>
                  <a:srgbClr val="1E293B"/>
                </a:solidFill>
                <a:latin typeface="Montserrat SemiBold"/>
              </a:rPr>
              <a:t> (NPM)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965990"/>
            <a:ext cx="52387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475569"/>
                </a:solidFill>
                <a:latin typeface="Inter"/>
              </a:rPr>
              <a:t>El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módulo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tacocloud-ui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puede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fallar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al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intentar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ejecutar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npm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install. Esto se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debe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frecuentemente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a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transacciones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SSL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deprecadas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o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conexiones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rechazadas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por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el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registro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oficial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al no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especificar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una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versión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81750" y="1470690"/>
            <a:ext cx="5500687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0" i="0" u="none" dirty="0" err="1">
                <a:solidFill>
                  <a:srgbClr val="1E293B"/>
                </a:solidFill>
                <a:latin typeface="Montserrat SemiBold"/>
              </a:rPr>
              <a:t>Solución</a:t>
            </a:r>
            <a:r>
              <a:rPr sz="2250" b="0" i="0" u="none" dirty="0">
                <a:solidFill>
                  <a:srgbClr val="1E293B"/>
                </a:solidFill>
                <a:latin typeface="Montserrat SemiBold"/>
              </a:rPr>
              <a:t> </a:t>
            </a:r>
            <a:r>
              <a:rPr sz="2250" b="0" i="0" u="none" dirty="0" err="1">
                <a:solidFill>
                  <a:srgbClr val="1E293B"/>
                </a:solidFill>
                <a:latin typeface="Montserrat SemiBold"/>
              </a:rPr>
              <a:t>en</a:t>
            </a:r>
            <a:r>
              <a:rPr sz="2250" b="0" i="0" u="none" dirty="0">
                <a:solidFill>
                  <a:srgbClr val="1E293B"/>
                </a:solidFill>
                <a:latin typeface="Montserrat SemiBold"/>
              </a:rPr>
              <a:t> pom.xml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81750" y="1965990"/>
            <a:ext cx="52387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475569"/>
                </a:solidFill>
                <a:latin typeface="Inter"/>
              </a:rPr>
              <a:t>Se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deben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declarar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explícitamente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las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versiones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de Node y NPM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dentro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de las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propiedades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del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archivo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pom.xml del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módulo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correspondiente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1E3A8A"/>
                </a:solidFill>
                <a:latin typeface="Montserrat"/>
              </a:rPr>
              <a:t>Resolución: Error en Módulo Frontend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78C2D5-28D9-F36C-EA05-9CEB088D39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92"/>
          <a:stretch>
            <a:fillRect/>
          </a:stretch>
        </p:blipFill>
        <p:spPr>
          <a:xfrm>
            <a:off x="447675" y="3328065"/>
            <a:ext cx="5486400" cy="30855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27CE6AF-352E-6EA8-81EF-FE4A7E0A4E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582"/>
          <a:stretch>
            <a:fillRect/>
          </a:stretch>
        </p:blipFill>
        <p:spPr>
          <a:xfrm>
            <a:off x="6257927" y="3328063"/>
            <a:ext cx="5486400" cy="308552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F74A0A5-C79D-910E-51E8-086D9471F59C}"/>
              </a:ext>
            </a:extLst>
          </p:cNvPr>
          <p:cNvSpPr txBox="1"/>
          <p:nvPr/>
        </p:nvSpPr>
        <p:spPr>
          <a:xfrm>
            <a:off x="6220185" y="2830235"/>
            <a:ext cx="540031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MX" sz="1400" b="1" dirty="0">
                <a:solidFill>
                  <a:schemeClr val="bg1">
                    <a:lumMod val="50000"/>
                  </a:schemeClr>
                </a:solidFill>
              </a:rPr>
              <a:t>Archivo: </a:t>
            </a:r>
          </a:p>
          <a:p>
            <a:pPr marL="0" indent="0" algn="ctr">
              <a:buNone/>
            </a:pPr>
            <a:r>
              <a:rPr lang="es-MX" sz="1200" b="1" dirty="0">
                <a:solidFill>
                  <a:schemeClr val="bg1">
                    <a:lumMod val="50000"/>
                  </a:schemeClr>
                </a:solidFill>
              </a:rPr>
              <a:t>Taco-Cloud-</a:t>
            </a:r>
            <a:r>
              <a:rPr lang="es-MX" sz="1200" b="1" dirty="0" err="1">
                <a:solidFill>
                  <a:schemeClr val="bg1">
                    <a:lumMod val="50000"/>
                  </a:schemeClr>
                </a:solidFill>
              </a:rPr>
              <a:t>Practice</a:t>
            </a:r>
            <a:r>
              <a:rPr lang="es-MX" sz="1200" b="1" dirty="0">
                <a:solidFill>
                  <a:schemeClr val="bg1">
                    <a:lumMod val="50000"/>
                  </a:schemeClr>
                </a:solidFill>
              </a:rPr>
              <a:t>\</a:t>
            </a:r>
            <a:r>
              <a:rPr lang="es-MX" sz="1200" b="1" dirty="0" err="1">
                <a:solidFill>
                  <a:schemeClr val="bg1">
                    <a:lumMod val="50000"/>
                  </a:schemeClr>
                </a:solidFill>
              </a:rPr>
              <a:t>tacocloud</a:t>
            </a:r>
            <a:r>
              <a:rPr lang="es-MX" sz="1200" b="1" dirty="0">
                <a:solidFill>
                  <a:schemeClr val="bg1">
                    <a:lumMod val="50000"/>
                  </a:schemeClr>
                </a:solidFill>
              </a:rPr>
              <a:t>\</a:t>
            </a:r>
            <a:r>
              <a:rPr lang="es-MX" sz="1200" b="1" dirty="0" err="1">
                <a:solidFill>
                  <a:schemeClr val="bg1">
                    <a:lumMod val="50000"/>
                  </a:schemeClr>
                </a:solidFill>
              </a:rPr>
              <a:t>tacocloud-ui</a:t>
            </a:r>
            <a:r>
              <a:rPr lang="es-MX" sz="1200" b="1" dirty="0">
                <a:solidFill>
                  <a:schemeClr val="bg1">
                    <a:lumMod val="50000"/>
                  </a:schemeClr>
                </a:solidFill>
              </a:rPr>
              <a:t>\pom.xml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DA05B3-2369-3F3C-3C75-00463D8B33B2}"/>
              </a:ext>
            </a:extLst>
          </p:cNvPr>
          <p:cNvSpPr txBox="1"/>
          <p:nvPr/>
        </p:nvSpPr>
        <p:spPr>
          <a:xfrm>
            <a:off x="490717" y="2927955"/>
            <a:ext cx="54003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MX" sz="2000" b="1" dirty="0">
                <a:solidFill>
                  <a:schemeClr val="bg1">
                    <a:lumMod val="50000"/>
                  </a:schemeClr>
                </a:solidFill>
              </a:rPr>
              <a:t>Terminal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71500" y="1854993"/>
            <a:ext cx="4796913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475569"/>
                </a:solidFill>
                <a:latin typeface="Inter"/>
              </a:rPr>
              <a:t>Tras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solucionar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los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módulos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principales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, la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ejecución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puede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detenerse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debido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a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pruebas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fallidas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en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el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componente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principal taco-cloud,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generalmente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vinculadas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a la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automatización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del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navegador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217068"/>
            <a:ext cx="52387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Inter"/>
              </a:rPr>
              <a:t>Solución Rápida (Atajo):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664743"/>
            <a:ext cx="4796913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>
                <a:solidFill>
                  <a:srgbClr val="475569"/>
                </a:solidFill>
                <a:latin typeface="Inter"/>
              </a:rPr>
              <a:t>Si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desea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omitir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temporalmente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esta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validación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y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compilar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de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inmediato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,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puede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usar el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siguiente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Inter"/>
              </a:rPr>
              <a:t>comando</a:t>
            </a:r>
            <a:r>
              <a:rPr sz="1500" b="0" i="0" u="none" dirty="0">
                <a:solidFill>
                  <a:srgbClr val="475569"/>
                </a:solidFill>
                <a:latin typeface="Inter"/>
              </a:rPr>
              <a:t>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298281"/>
            <a:ext cx="4796913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1" u="none" dirty="0">
                <a:solidFill>
                  <a:srgbClr val="475569"/>
                </a:solidFill>
                <a:latin typeface="Inter"/>
              </a:rPr>
              <a:t>Nota: Para </a:t>
            </a:r>
            <a:r>
              <a:rPr sz="1500" b="0" i="1" u="none" dirty="0" err="1">
                <a:solidFill>
                  <a:srgbClr val="475569"/>
                </a:solidFill>
                <a:latin typeface="Inter"/>
              </a:rPr>
              <a:t>una</a:t>
            </a:r>
            <a:r>
              <a:rPr sz="1500" b="0" i="1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1" u="none" dirty="0" err="1">
                <a:solidFill>
                  <a:srgbClr val="475569"/>
                </a:solidFill>
                <a:latin typeface="Inter"/>
              </a:rPr>
              <a:t>solución</a:t>
            </a:r>
            <a:r>
              <a:rPr sz="1500" b="0" i="1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1" u="none" dirty="0" err="1">
                <a:solidFill>
                  <a:srgbClr val="475569"/>
                </a:solidFill>
                <a:latin typeface="Inter"/>
              </a:rPr>
              <a:t>definitiva</a:t>
            </a:r>
            <a:r>
              <a:rPr sz="1500" b="0" i="1" u="none" dirty="0">
                <a:solidFill>
                  <a:srgbClr val="475569"/>
                </a:solidFill>
                <a:latin typeface="Inter"/>
              </a:rPr>
              <a:t>, </a:t>
            </a:r>
            <a:r>
              <a:rPr sz="1500" b="0" i="1" u="none" dirty="0" err="1">
                <a:solidFill>
                  <a:srgbClr val="475569"/>
                </a:solidFill>
                <a:latin typeface="Inter"/>
              </a:rPr>
              <a:t>consulte</a:t>
            </a:r>
            <a:r>
              <a:rPr sz="1500" b="0" i="1" u="none" dirty="0">
                <a:solidFill>
                  <a:srgbClr val="475569"/>
                </a:solidFill>
                <a:latin typeface="Inter"/>
              </a:rPr>
              <a:t> la </a:t>
            </a:r>
            <a:r>
              <a:rPr sz="1500" b="0" i="1" u="none" dirty="0" err="1">
                <a:solidFill>
                  <a:srgbClr val="475569"/>
                </a:solidFill>
                <a:latin typeface="Inter"/>
              </a:rPr>
              <a:t>siguiente</a:t>
            </a:r>
            <a:r>
              <a:rPr sz="1500" b="0" i="1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500" b="0" i="1" u="none" dirty="0" err="1">
                <a:solidFill>
                  <a:srgbClr val="475569"/>
                </a:solidFill>
                <a:latin typeface="Inter"/>
              </a:rPr>
              <a:t>diapositiva</a:t>
            </a:r>
            <a:r>
              <a:rPr sz="1500" b="0" i="1" u="none" dirty="0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1E3A8A"/>
                </a:solidFill>
                <a:latin typeface="Montserrat"/>
              </a:rPr>
              <a:t>Gestión de Pruebas (Tests)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209675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1E55E82-031E-E3AD-8226-5EEB3AA14F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746" b="5728"/>
          <a:stretch>
            <a:fillRect/>
          </a:stretch>
        </p:blipFill>
        <p:spPr>
          <a:xfrm>
            <a:off x="6823589" y="1352550"/>
            <a:ext cx="4572000" cy="277331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47742AB-E607-BB8A-F417-0F81B9D00765}"/>
              </a:ext>
            </a:extLst>
          </p:cNvPr>
          <p:cNvSpPr txBox="1"/>
          <p:nvPr/>
        </p:nvSpPr>
        <p:spPr>
          <a:xfrm>
            <a:off x="571500" y="4417218"/>
            <a:ext cx="37645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MX" sz="2000" b="1" dirty="0" err="1">
                <a:solidFill>
                  <a:schemeClr val="bg1">
                    <a:lumMod val="50000"/>
                  </a:schemeClr>
                </a:solidFill>
              </a:rPr>
              <a:t>mvn</a:t>
            </a:r>
            <a:r>
              <a:rPr lang="es-MX" sz="20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MX" sz="2000" b="1" dirty="0" err="1">
                <a:solidFill>
                  <a:schemeClr val="bg1">
                    <a:lumMod val="50000"/>
                  </a:schemeClr>
                </a:solidFill>
              </a:rPr>
              <a:t>clean</a:t>
            </a:r>
            <a:r>
              <a:rPr lang="es-MX" sz="20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MX" sz="2000" b="1" dirty="0" err="1">
                <a:solidFill>
                  <a:schemeClr val="bg1">
                    <a:lumMod val="50000"/>
                  </a:schemeClr>
                </a:solidFill>
              </a:rPr>
              <a:t>package</a:t>
            </a:r>
            <a:r>
              <a:rPr lang="es-MX" sz="2000" b="1" dirty="0">
                <a:solidFill>
                  <a:schemeClr val="bg1">
                    <a:lumMod val="50000"/>
                  </a:schemeClr>
                </a:solidFill>
              </a:rPr>
              <a:t> –</a:t>
            </a:r>
            <a:r>
              <a:rPr lang="es-MX" sz="2000" b="1" dirty="0" err="1">
                <a:solidFill>
                  <a:schemeClr val="bg1">
                    <a:lumMod val="50000"/>
                  </a:schemeClr>
                </a:solidFill>
              </a:rPr>
              <a:t>DskipTests</a:t>
            </a:r>
            <a:endParaRPr lang="es-MX" sz="2000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45C69CE-8EF2-A152-9B00-08C83CDE08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15"/>
          <a:stretch>
            <a:fillRect/>
          </a:stretch>
        </p:blipFill>
        <p:spPr>
          <a:xfrm>
            <a:off x="6823589" y="4193381"/>
            <a:ext cx="4572000" cy="2571273"/>
          </a:xfrm>
          <a:prstGeom prst="rect">
            <a:avLst/>
          </a:prstGeom>
        </p:spPr>
      </p:pic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B64C84B0-2C52-B9BE-4A14-E31AD494AD64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4336026" y="4617273"/>
            <a:ext cx="2487563" cy="861745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2F9FA8F-207B-BB5B-5BFC-8B8574F91285}"/>
              </a:ext>
            </a:extLst>
          </p:cNvPr>
          <p:cNvSpPr txBox="1"/>
          <p:nvPr/>
        </p:nvSpPr>
        <p:spPr>
          <a:xfrm>
            <a:off x="6409431" y="887351"/>
            <a:ext cx="54003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MX" sz="2000" b="1" dirty="0">
                <a:solidFill>
                  <a:schemeClr val="bg1">
                    <a:lumMod val="50000"/>
                  </a:schemeClr>
                </a:solidFill>
              </a:rPr>
              <a:t>Terminal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373160"/>
            <a:ext cx="5524500" cy="45369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50270" y="2144119"/>
            <a:ext cx="2100262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50" b="0" i="0" u="none" dirty="0">
                <a:solidFill>
                  <a:srgbClr val="1E3A8A"/>
                </a:solidFill>
                <a:latin typeface="Montserrat SemiBold"/>
              </a:rPr>
              <a:t>La Causa </a:t>
            </a:r>
            <a:r>
              <a:rPr sz="2250" b="0" i="0" u="none" dirty="0" err="1">
                <a:solidFill>
                  <a:srgbClr val="1E3A8A"/>
                </a:solidFill>
                <a:latin typeface="Montserrat SemiBold"/>
              </a:rPr>
              <a:t>Raíz</a:t>
            </a:r>
            <a:endParaRPr sz="2250" b="0" i="0" u="none" dirty="0">
              <a:solidFill>
                <a:srgbClr val="1E3A8A"/>
              </a:solidFill>
              <a:latin typeface="Montserrat Semi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71501" y="2531676"/>
            <a:ext cx="5257800" cy="24360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s-ES" sz="1500" dirty="0">
                <a:solidFill>
                  <a:srgbClr val="475569"/>
                </a:solidFill>
                <a:latin typeface="Inter"/>
              </a:rPr>
              <a:t>Resumiendo, el error</a:t>
            </a:r>
            <a:r>
              <a:rPr lang="es-ES" sz="1500" b="0" i="0" u="none" dirty="0">
                <a:solidFill>
                  <a:srgbClr val="475569"/>
                </a:solidFill>
                <a:latin typeface="Inter"/>
              </a:rPr>
              <a:t> del proyecto es que tiene configurado una versión del controlador (</a:t>
            </a:r>
            <a:r>
              <a:rPr lang="es-ES" sz="1500" b="0" i="0" u="none" dirty="0" err="1">
                <a:solidFill>
                  <a:srgbClr val="475569"/>
                </a:solidFill>
                <a:latin typeface="Inter"/>
              </a:rPr>
              <a:t>ChromeDriver</a:t>
            </a:r>
            <a:r>
              <a:rPr lang="es-ES" sz="1500" b="0" i="0" u="none" dirty="0">
                <a:solidFill>
                  <a:srgbClr val="475569"/>
                </a:solidFill>
                <a:latin typeface="Inter"/>
              </a:rPr>
              <a:t> v114) antigua, comparado con la versión actual del browser que se esta usando (.. v151).</a:t>
            </a:r>
          </a:p>
          <a:p>
            <a:pPr algn="ctr">
              <a:lnSpc>
                <a:spcPts val="2400"/>
              </a:lnSpc>
            </a:pPr>
            <a:r>
              <a:rPr lang="es-ES" sz="1500" dirty="0">
                <a:solidFill>
                  <a:srgbClr val="475569"/>
                </a:solidFill>
                <a:latin typeface="Inter"/>
              </a:rPr>
              <a:t>Se sugiere automatizar la versión del controlador acorde al browser actual del desarrollador.</a:t>
            </a:r>
          </a:p>
          <a:p>
            <a:pPr algn="ctr">
              <a:lnSpc>
                <a:spcPts val="2400"/>
              </a:lnSpc>
            </a:pPr>
            <a:r>
              <a:rPr lang="es-ES" sz="1500" b="0" i="0" u="none" dirty="0">
                <a:solidFill>
                  <a:srgbClr val="475569"/>
                </a:solidFill>
                <a:latin typeface="Inter"/>
              </a:rPr>
              <a:t>Se modifico el archivo pom del modulo </a:t>
            </a:r>
            <a:r>
              <a:rPr lang="es-ES" sz="1500" b="1" i="0" u="none" dirty="0" err="1">
                <a:solidFill>
                  <a:srgbClr val="475569"/>
                </a:solidFill>
                <a:latin typeface="Inter"/>
              </a:rPr>
              <a:t>tacocloud</a:t>
            </a:r>
            <a:r>
              <a:rPr lang="es-ES" sz="1500" i="0" u="none" dirty="0">
                <a:solidFill>
                  <a:srgbClr val="475569"/>
                </a:solidFill>
                <a:latin typeface="Inter"/>
              </a:rPr>
              <a:t> de tal manera que actualizamos la dependencia de </a:t>
            </a:r>
            <a:r>
              <a:rPr lang="es-ES" sz="1500" i="0" u="none" dirty="0" err="1">
                <a:solidFill>
                  <a:srgbClr val="475569"/>
                </a:solidFill>
                <a:latin typeface="Inter"/>
              </a:rPr>
              <a:t>ChromeDriver</a:t>
            </a:r>
            <a:r>
              <a:rPr lang="es-ES" sz="1500" i="0" u="none" dirty="0">
                <a:solidFill>
                  <a:srgbClr val="475569"/>
                </a:solidFill>
                <a:latin typeface="Inter"/>
              </a:rPr>
              <a:t> y a su vez utilizamos la dependencia Httpclient5</a:t>
            </a:r>
            <a:endParaRPr lang="es-ES" sz="1500" b="0" i="0" u="none" dirty="0">
              <a:solidFill>
                <a:srgbClr val="475569"/>
              </a:solidFill>
              <a:latin typeface="Inter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701" y="1537722"/>
            <a:ext cx="533400" cy="53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1E3A8A"/>
                </a:solidFill>
                <a:latin typeface="Montserrat"/>
              </a:rPr>
              <a:t>Solución Definitiva de Tests (ChromeDriver)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095375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5D0DF95-C28B-4D53-61B3-4000037D63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8835" y="2320331"/>
            <a:ext cx="5400315" cy="289476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47B511A-CD1F-4C47-B842-FA7886932EE9}"/>
              </a:ext>
            </a:extLst>
          </p:cNvPr>
          <p:cNvSpPr txBox="1"/>
          <p:nvPr/>
        </p:nvSpPr>
        <p:spPr>
          <a:xfrm>
            <a:off x="6372225" y="1537722"/>
            <a:ext cx="540031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MX" sz="2000" b="1" dirty="0">
                <a:solidFill>
                  <a:schemeClr val="bg1">
                    <a:lumMod val="50000"/>
                  </a:schemeClr>
                </a:solidFill>
              </a:rPr>
              <a:t>Archivo: </a:t>
            </a:r>
          </a:p>
          <a:p>
            <a:pPr marL="0" indent="0" algn="ctr">
              <a:buNone/>
            </a:pPr>
            <a:r>
              <a:rPr lang="es-MX" b="1" dirty="0">
                <a:solidFill>
                  <a:schemeClr val="bg1">
                    <a:lumMod val="50000"/>
                  </a:schemeClr>
                </a:solidFill>
              </a:rPr>
              <a:t>Taco-Cloud-</a:t>
            </a:r>
            <a:r>
              <a:rPr lang="es-MX" b="1" dirty="0" err="1">
                <a:solidFill>
                  <a:schemeClr val="bg1">
                    <a:lumMod val="50000"/>
                  </a:schemeClr>
                </a:solidFill>
              </a:rPr>
              <a:t>Practice</a:t>
            </a:r>
            <a:r>
              <a:rPr lang="es-MX" b="1" dirty="0">
                <a:solidFill>
                  <a:schemeClr val="bg1">
                    <a:lumMod val="50000"/>
                  </a:schemeClr>
                </a:solidFill>
              </a:rPr>
              <a:t>\</a:t>
            </a:r>
            <a:r>
              <a:rPr lang="es-MX" b="1" dirty="0" err="1">
                <a:solidFill>
                  <a:schemeClr val="bg1">
                    <a:lumMod val="50000"/>
                  </a:schemeClr>
                </a:solidFill>
              </a:rPr>
              <a:t>tacocloud</a:t>
            </a:r>
            <a:r>
              <a:rPr lang="es-MX" b="1" dirty="0">
                <a:solidFill>
                  <a:schemeClr val="bg1">
                    <a:lumMod val="50000"/>
                  </a:schemeClr>
                </a:solidFill>
              </a:rPr>
              <a:t>\</a:t>
            </a:r>
            <a:r>
              <a:rPr lang="es-MX" b="1" dirty="0" err="1">
                <a:solidFill>
                  <a:schemeClr val="bg1">
                    <a:lumMod val="50000"/>
                  </a:schemeClr>
                </a:solidFill>
              </a:rPr>
              <a:t>tacocloud</a:t>
            </a:r>
            <a:r>
              <a:rPr lang="es-MX" b="1" dirty="0">
                <a:solidFill>
                  <a:schemeClr val="bg1">
                    <a:lumMod val="50000"/>
                  </a:schemeClr>
                </a:solidFill>
              </a:rPr>
              <a:t>\pom.xml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4A2FE-0127-9634-03AD-192BA9E63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50EDE271-E594-26FC-7772-3681C8FCCCB0}"/>
              </a:ext>
            </a:extLst>
          </p:cNvPr>
          <p:cNvSpPr txBox="1"/>
          <p:nvPr/>
        </p:nvSpPr>
        <p:spPr>
          <a:xfrm>
            <a:off x="3483231" y="495300"/>
            <a:ext cx="5225538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150" b="1" i="0" u="none" dirty="0">
                <a:solidFill>
                  <a:srgbClr val="1E3A8A"/>
                </a:solidFill>
                <a:latin typeface="Montserrat"/>
              </a:rPr>
              <a:t>RESULTADO ESPERADO</a:t>
            </a:r>
            <a:endParaRPr sz="3150" b="1" i="0" u="none" dirty="0">
              <a:solidFill>
                <a:srgbClr val="1E3A8A"/>
              </a:solidFill>
              <a:latin typeface="Montserra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E1DF69-D1C6-D680-5DD5-BB421C479096}"/>
              </a:ext>
            </a:extLst>
          </p:cNvPr>
          <p:cNvSpPr/>
          <p:nvPr/>
        </p:nvSpPr>
        <p:spPr>
          <a:xfrm>
            <a:off x="571500" y="1133475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706E6C9-084F-6E2E-B27C-7922F35AC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33629"/>
            <a:ext cx="6400800" cy="461276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F7DB365-0F1C-A2CB-FB36-44ECD75CDA82}"/>
              </a:ext>
            </a:extLst>
          </p:cNvPr>
          <p:cNvSpPr txBox="1"/>
          <p:nvPr/>
        </p:nvSpPr>
        <p:spPr>
          <a:xfrm>
            <a:off x="7580671" y="2900970"/>
            <a:ext cx="4039829" cy="18644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800" b="1" i="0" u="none" dirty="0">
                <a:solidFill>
                  <a:srgbClr val="475569"/>
                </a:solidFill>
                <a:latin typeface="Inter"/>
              </a:rPr>
              <a:t>Para </a:t>
            </a:r>
            <a:r>
              <a:rPr lang="en-US" sz="2800" b="1" i="0" u="none" dirty="0" err="1">
                <a:solidFill>
                  <a:srgbClr val="475569"/>
                </a:solidFill>
                <a:latin typeface="Inter"/>
              </a:rPr>
              <a:t>continuar</a:t>
            </a:r>
            <a:r>
              <a:rPr lang="en-US" sz="2800" b="1" i="0" u="none" dirty="0">
                <a:solidFill>
                  <a:srgbClr val="475569"/>
                </a:solidFill>
                <a:latin typeface="Inter"/>
              </a:rPr>
              <a:t> con el </a:t>
            </a:r>
            <a:r>
              <a:rPr lang="en-US" sz="2800" b="1" i="0" u="none" dirty="0" err="1">
                <a:solidFill>
                  <a:srgbClr val="475569"/>
                </a:solidFill>
                <a:latin typeface="Inter"/>
              </a:rPr>
              <a:t>curso</a:t>
            </a:r>
            <a:r>
              <a:rPr lang="en-US" sz="2800" b="1" i="0" u="none" dirty="0">
                <a:solidFill>
                  <a:srgbClr val="475569"/>
                </a:solidFill>
                <a:latin typeface="Inter"/>
              </a:rPr>
              <a:t> y </a:t>
            </a:r>
            <a:r>
              <a:rPr lang="en-US" sz="2800" b="1" i="0" u="none" dirty="0" err="1">
                <a:solidFill>
                  <a:srgbClr val="475569"/>
                </a:solidFill>
                <a:latin typeface="Inter"/>
              </a:rPr>
              <a:t>desarrollar</a:t>
            </a:r>
            <a:r>
              <a:rPr lang="en-US" sz="2800" b="1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2800" b="1" i="0" u="none" dirty="0" err="1">
                <a:solidFill>
                  <a:srgbClr val="475569"/>
                </a:solidFill>
                <a:latin typeface="Inter"/>
              </a:rPr>
              <a:t>los</a:t>
            </a:r>
            <a:r>
              <a:rPr lang="en-US" sz="2800" b="1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2800" b="1" i="0" u="none" dirty="0" err="1">
                <a:solidFill>
                  <a:srgbClr val="475569"/>
                </a:solidFill>
                <a:latin typeface="Inter"/>
              </a:rPr>
              <a:t>retos</a:t>
            </a:r>
            <a:r>
              <a:rPr lang="en-US" sz="2800" b="1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en-US" sz="2800" b="1" i="0" u="none" dirty="0" err="1">
                <a:solidFill>
                  <a:srgbClr val="475569"/>
                </a:solidFill>
                <a:latin typeface="Inter"/>
              </a:rPr>
              <a:t>funcionales</a:t>
            </a:r>
            <a:r>
              <a:rPr lang="en-US" sz="2800" b="1" dirty="0">
                <a:solidFill>
                  <a:srgbClr val="475569"/>
                </a:solidFill>
                <a:latin typeface="Inter"/>
              </a:rPr>
              <a:t>, </a:t>
            </a:r>
            <a:r>
              <a:rPr lang="en-US" sz="2800" b="1" dirty="0" err="1">
                <a:solidFill>
                  <a:srgbClr val="475569"/>
                </a:solidFill>
                <a:latin typeface="Inter"/>
              </a:rPr>
              <a:t>siga</a:t>
            </a:r>
            <a:r>
              <a:rPr lang="en-US" sz="2800" b="1" dirty="0">
                <a:solidFill>
                  <a:srgbClr val="475569"/>
                </a:solidFill>
                <a:latin typeface="Inter"/>
              </a:rPr>
              <a:t> las </a:t>
            </a:r>
            <a:r>
              <a:rPr lang="en-US" sz="2800" b="1" dirty="0" err="1">
                <a:solidFill>
                  <a:srgbClr val="475569"/>
                </a:solidFill>
                <a:latin typeface="Inter"/>
              </a:rPr>
              <a:t>indicaciones</a:t>
            </a:r>
            <a:r>
              <a:rPr lang="en-US" sz="2800" b="1" dirty="0">
                <a:solidFill>
                  <a:srgbClr val="475569"/>
                </a:solidFill>
                <a:latin typeface="Inter"/>
              </a:rPr>
              <a:t> del instructor y el </a:t>
            </a:r>
            <a:r>
              <a:rPr lang="en-US" sz="2800" b="1" dirty="0" err="1">
                <a:solidFill>
                  <a:srgbClr val="475569"/>
                </a:solidFill>
                <a:latin typeface="Inter"/>
              </a:rPr>
              <a:t>archivo</a:t>
            </a:r>
            <a:r>
              <a:rPr lang="en-US" sz="2800" b="1" dirty="0">
                <a:solidFill>
                  <a:srgbClr val="475569"/>
                </a:solidFill>
                <a:latin typeface="Inter"/>
              </a:rPr>
              <a:t> README del </a:t>
            </a:r>
            <a:r>
              <a:rPr lang="en-US" sz="2800" b="1" dirty="0" err="1">
                <a:solidFill>
                  <a:srgbClr val="475569"/>
                </a:solidFill>
                <a:latin typeface="Inter"/>
              </a:rPr>
              <a:t>proyecto</a:t>
            </a:r>
            <a:endParaRPr sz="2800" b="1" i="0" u="none" dirty="0">
              <a:solidFill>
                <a:srgbClr val="475569"/>
              </a:solidFill>
              <a:latin typeface="Inter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5F728B-03A2-D3C4-C6B7-9B5E7BA154E0}"/>
              </a:ext>
            </a:extLst>
          </p:cNvPr>
          <p:cNvSpPr txBox="1"/>
          <p:nvPr/>
        </p:nvSpPr>
        <p:spPr>
          <a:xfrm>
            <a:off x="1071742" y="1147762"/>
            <a:ext cx="54003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MX" sz="2000" b="1" dirty="0">
                <a:solidFill>
                  <a:schemeClr val="bg1">
                    <a:lumMod val="50000"/>
                  </a:schemeClr>
                </a:solidFill>
              </a:rPr>
              <a:t>Terminal</a:t>
            </a:r>
          </a:p>
        </p:txBody>
      </p:sp>
    </p:spTree>
    <p:extLst>
      <p:ext uri="{BB962C8B-B14F-4D97-AF65-F5344CB8AC3E}">
        <p14:creationId xmlns:p14="http://schemas.microsoft.com/office/powerpoint/2010/main" val="752778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537</Words>
  <Application>Microsoft Office PowerPoint</Application>
  <PresentationFormat>Widescreen</PresentationFormat>
  <Paragraphs>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Inter</vt:lpstr>
      <vt:lpstr>Montserrat</vt:lpstr>
      <vt:lpstr>Montserrat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ANGEL DANIEL LOPEZ RODRIGUEZ</cp:lastModifiedBy>
  <cp:revision>4</cp:revision>
  <dcterms:created xsi:type="dcterms:W3CDTF">2013-01-27T09:14:16Z</dcterms:created>
  <dcterms:modified xsi:type="dcterms:W3CDTF">2026-08-27T04:28:20Z</dcterms:modified>
  <cp:category/>
</cp:coreProperties>
</file>